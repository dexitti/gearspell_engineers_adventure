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2" r:id="rId6"/>
    <p:sldId id="26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199" autoAdjust="0"/>
  </p:normalViewPr>
  <p:slideViewPr>
    <p:cSldViewPr snapToGrid="0">
      <p:cViewPr varScale="1">
        <p:scale>
          <a:sx n="92" d="100"/>
          <a:sy n="92" d="100"/>
        </p:scale>
        <p:origin x="12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C2122-4C39-483D-93CB-8915B149677F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397AD4-4E12-4B88-8AE7-557017CD94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31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Разработанная игра называется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Gearspell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Engineer’s Adventure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и представляет собой мобильную игру, созданную в развлекательных целях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Жанром был выбран текстовый квест из-за простоты реализации. Элемент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Tower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заключается в том, что в конце истории представлены события обороны башни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Вдохновением послужит некогда популярный аналог «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Impossible Quest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это серия игр в жанре текстовый квест, где игроку предоставляется литературный фрагмент, изучив который игрок совершает выборы, посредством которого изучает мир игры. В игре представлено множество уникальных концовок, отчего игра обладает высокой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реиграбельностью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Основой сюжета послужил лор другой моей игры - «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Gearspell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Tower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поэтому целью разработки стало раскрытие мира и персонажей через интерактивное повествование, позволяющее игроку узнать предысторию событий и повлиять на судьбу героя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Задачами стоят реализация системы на платформе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Android,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расширение лора игры за счет создания интерактивного приключения с множеством развилок и концовок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97AD4-4E12-4B88-8AE7-557017CD943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117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первом скриншоте представлен главный экран игры. На втором представлен стандартный вид события, где отображено</a:t>
            </a:r>
          </a:p>
          <a:p>
            <a:r>
              <a:rPr lang="ru-RU" dirty="0"/>
              <a:t>Описание</a:t>
            </a:r>
          </a:p>
          <a:p>
            <a:r>
              <a:rPr lang="ru-RU" dirty="0"/>
              <a:t>Игровые характеристики</a:t>
            </a:r>
          </a:p>
          <a:p>
            <a:r>
              <a:rPr lang="ru-RU" dirty="0"/>
              <a:t>Кнопка инвентаря и варианты выбора пути.</a:t>
            </a:r>
          </a:p>
          <a:p>
            <a:r>
              <a:rPr lang="ru-RU" dirty="0"/>
              <a:t>На третьем представлен открытый инвентарь с некоторыми найденными предметами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97AD4-4E12-4B88-8AE7-557017CD943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518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Архитектура приложения представлена в виде диаграммы классов.</a:t>
            </a:r>
          </a:p>
          <a:p>
            <a:r>
              <a:rPr lang="en-US" dirty="0" err="1"/>
              <a:t>MainActivity</a:t>
            </a:r>
            <a:r>
              <a:rPr lang="en-US" dirty="0"/>
              <a:t> </a:t>
            </a:r>
            <a:r>
              <a:rPr lang="ru-RU" dirty="0"/>
              <a:t>отвечает за интерфейс и отрисовку экранов</a:t>
            </a:r>
          </a:p>
          <a:p>
            <a:r>
              <a:rPr lang="en-US" dirty="0"/>
              <a:t>Game </a:t>
            </a:r>
            <a:r>
              <a:rPr lang="ru-RU" dirty="0"/>
              <a:t>содержит основную логику игры, и содержит сущности </a:t>
            </a:r>
            <a:r>
              <a:rPr lang="en-US" dirty="0"/>
              <a:t>Tower, Player, Inventory, Event </a:t>
            </a:r>
            <a:r>
              <a:rPr lang="ru-RU" dirty="0"/>
              <a:t>с массивом </a:t>
            </a:r>
            <a:r>
              <a:rPr lang="en-US" dirty="0"/>
              <a:t>Choice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97AD4-4E12-4B88-8AE7-557017CD943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123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Дерево – циклы -</a:t>
            </a:r>
            <a:r>
              <a:rPr lang="en-US" dirty="0"/>
              <a:t>&gt; </a:t>
            </a:r>
            <a:r>
              <a:rPr lang="ru-RU" dirty="0"/>
              <a:t>Граф, так как горизонтальные переходы уменьшили сценарную нагрузку и упростили разработку выборов</a:t>
            </a:r>
          </a:p>
          <a:p>
            <a:r>
              <a:rPr lang="ru-RU" dirty="0"/>
              <a:t>Узлы графа </a:t>
            </a:r>
            <a:r>
              <a:rPr lang="ru-RU" dirty="0" err="1"/>
              <a:t>представленны</a:t>
            </a:r>
            <a:r>
              <a:rPr lang="ru-RU" dirty="0"/>
              <a:t> цифрами, а переходы – линиями</a:t>
            </a:r>
          </a:p>
          <a:p>
            <a:r>
              <a:rPr lang="ru-RU" dirty="0"/>
              <a:t>Все выборы сводятся к единому финалу, но также игрок может погибнуть в приключении, если его здоровье упадет ниже 0</a:t>
            </a:r>
          </a:p>
          <a:p>
            <a:r>
              <a:rPr lang="ru-RU" dirty="0"/>
              <a:t>Или в финале есть узлы отмеченные галочкой – победа, крестиком - поражения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97AD4-4E12-4B88-8AE7-557017CD943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11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5DE9D-B8C1-4996-8EB8-36A4E8C57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189FE7-557C-4D48-910D-9706E8B11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3A618B-8314-4F7E-8DE8-9FE36C58A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D3F1FD-26CC-40BA-8779-D35EE87F5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19BBB5-8C0B-45AE-95EA-1D4232020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446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A8B91-D1B0-4F6A-8C6E-DAD08B998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BC5E57-9CDB-4939-9CC0-5AF52271C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5B7958-1692-4E4F-BE11-5AB4262E7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639E20-C322-407F-B2E7-B6DDABD4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BA0ABF-43BF-40C0-A011-22684FEA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1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EAF45-4059-401B-9D17-989AE0655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B7B09C-C2F5-438D-9C13-881C0100F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500187-9476-496C-99AB-E9CDE092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B5E04D-F86A-4353-9AF3-0A58A020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C82457-7E27-4E03-9C05-D9014688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62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D7DE-0440-4587-9372-1E7F5C63F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ED4A6A-3F5B-4BD1-937B-0C75E5362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EDCE678-9D4C-41C9-B75B-C6F62A016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51E2F1-5C04-450A-9A78-DED33995A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EA1A45-C138-48A0-A804-75400567B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CFB8B9-6F8D-479E-AEF6-3800560C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766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60D2A-0853-4F25-ACFD-060C3FE0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5EAABD-450E-4AF1-B4DC-265D709B1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8294CDE-FD88-4875-A0A2-18BBBCB4D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743C8D-B659-43EB-8E83-13D9C6378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7DF64AD-0D8A-46F6-806E-317FD279C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6A88B7D-0C97-464F-AC8A-5D37689A5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89C3A12-CE56-4491-A1B8-FBEA6E50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FD96122-C2D4-4832-BEA0-414B258D7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19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95436-368D-4945-BAB9-97534844A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890"/>
            <a:ext cx="10515600" cy="906722"/>
          </a:xfrm>
        </p:spPr>
        <p:txBody>
          <a:bodyPr>
            <a:normAutofit/>
          </a:bodyPr>
          <a:lstStyle>
            <a:lvl1pPr algn="ctr"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421E4B-2D2D-4202-AFF7-35342D23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5865" y="6215985"/>
            <a:ext cx="27432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18B702-6DC2-410B-BB66-B960085F0366}" type="slidenum">
              <a:rPr lang="ru-RU" smtClean="0"/>
              <a:pPr/>
              <a:t>‹#›</a:t>
            </a:fld>
            <a:r>
              <a:rPr lang="ru-RU" dirty="0"/>
              <a:t>/6</a:t>
            </a:r>
          </a:p>
        </p:txBody>
      </p:sp>
    </p:spTree>
    <p:extLst>
      <p:ext uri="{BB962C8B-B14F-4D97-AF65-F5344CB8AC3E}">
        <p14:creationId xmlns:p14="http://schemas.microsoft.com/office/powerpoint/2010/main" val="277724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3F1D9AE-AEF1-46CE-AC70-02FF88F35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405694C-1AA2-4C43-82BA-4DFF07FB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F3EFC4-4B7C-44BE-BDD3-4FE4998F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8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17108-5931-4E38-B69F-D217D1950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CAA584-ADDA-4B68-AC67-D41971DE1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3B7ACA-3638-4B13-A302-D61286F4C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26604C-B1CE-4F4D-9EAE-4F2E9A944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EF9BEC-D86C-4466-8DDF-0906EADFC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8E1543-E67B-483B-B3AF-3C8FFE52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64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69875-443F-400F-A74E-887F88857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B49444B-08AA-4D96-A063-CC0113A24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54CE1B-566E-456B-AC5B-F8552643E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873D06-1F85-4EF9-9649-F22A171D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85A091-1D62-4032-AACB-C0E28E72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49B820-7724-48BE-801F-92B255A4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41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6D7FD-AB85-456B-8C1B-C44D3959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D3A66F-CA2A-45C3-BB9E-42ACC81E8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DEA6A1-5259-411E-A4ED-21FE561FC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0533C1-ABD4-4691-BF81-6A6557638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1220E3-77F5-42B1-A80D-6716EA04D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056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F4E0F56-166A-4229-9C2C-70127191A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7720BE-CE4A-4D78-8D38-D665BDD42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367898-7B9C-43C2-AC45-B91D61FA7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0A822B-5F56-49AC-BF70-C70A80D26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15255E-372A-48E1-B8AB-E4A1101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449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C509E-8CFF-4904-A84A-1C5616FE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D373D8-B161-4707-BBFA-E27245851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44BC88-BEDA-4B22-A7F0-D2EBE50BCD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3EFB48-95A8-4781-8DF3-1528180E4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18CC4E-6BEA-4074-A827-2395FD8F2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8B702-6DC2-410B-BB66-B960085F0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6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419ED-647A-4EED-AAB6-CF545A924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71766"/>
            <a:ext cx="9144000" cy="712691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+mn-lt"/>
                <a:cs typeface="Arial" panose="020B0604020202020204" pitchFamily="34" charset="0"/>
              </a:rPr>
              <a:t>Разработка текстового квеста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77930E76-41E2-4556-8885-F62D619C4B6E}"/>
              </a:ext>
            </a:extLst>
          </p:cNvPr>
          <p:cNvSpPr txBox="1">
            <a:spLocks/>
          </p:cNvSpPr>
          <p:nvPr/>
        </p:nvSpPr>
        <p:spPr bwMode="auto">
          <a:xfrm>
            <a:off x="2667000" y="224328"/>
            <a:ext cx="68580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1050" kern="0" noProof="1"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1050" kern="0" noProof="1"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1050" kern="0" noProof="1">
                <a:cs typeface="Times New Roman" panose="02020603050405020304" pitchFamily="18" charset="0"/>
              </a:rPr>
              <a:t>«Южно-Уральский государственный университет (национальный исследовательский университет)»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1050" kern="0" noProof="1">
                <a:cs typeface="Times New Roman" panose="02020603050405020304" pitchFamily="18" charset="0"/>
              </a:rPr>
              <a:t>Институт естественных и точных наук 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1050" kern="0" noProof="1">
                <a:cs typeface="Times New Roman" panose="02020603050405020304" pitchFamily="18" charset="0"/>
              </a:rPr>
              <a:t>Кафедра системного программирования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86AC4-0787-4DB2-BBE2-CFA21C785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539" y="4398194"/>
            <a:ext cx="276511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ru-RU" altLang="zh-CN" sz="1600" dirty="0">
                <a:solidFill>
                  <a:prstClr val="black"/>
                </a:solidFill>
                <a:latin typeface="Calibri"/>
                <a:cs typeface="等线"/>
              </a:rPr>
              <a:t>Автор: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ru-RU" altLang="zh-CN" sz="1600" dirty="0">
                <a:solidFill>
                  <a:prstClr val="black"/>
                </a:solidFill>
                <a:latin typeface="Calibri"/>
                <a:cs typeface="等线"/>
              </a:rPr>
              <a:t>студент группы ЕТ-301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ru-RU" altLang="zh-CN" sz="1600" dirty="0">
                <a:solidFill>
                  <a:prstClr val="black"/>
                </a:solidFill>
                <a:latin typeface="Calibri"/>
                <a:cs typeface="等线"/>
              </a:rPr>
              <a:t>Яковлев Дмитрий Евгеньевич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23528-9C96-4662-A4CB-3EF47A806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388" y="4398194"/>
            <a:ext cx="291710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ru-RU" altLang="zh-CN" sz="1600" dirty="0">
                <a:solidFill>
                  <a:prstClr val="black"/>
                </a:solidFill>
                <a:latin typeface="Calibri"/>
                <a:cs typeface="等线"/>
              </a:rPr>
              <a:t>Преподаватель: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ru-RU" sz="16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ст. преподаватель кафедры СП </a:t>
            </a:r>
            <a:r>
              <a:rPr lang="ru-RU" sz="1600" dirty="0">
                <a:solidFill>
                  <a:prstClr val="black"/>
                </a:solidFill>
                <a:latin typeface="Calibri"/>
              </a:rPr>
              <a:t>Н.С. Силкина</a:t>
            </a:r>
            <a:endParaRPr lang="ru-RU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36311F25-5829-4CF0-BA7B-CCFC70567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104" y="3794528"/>
            <a:ext cx="68518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ru-RU" altLang="zh-CN" sz="1600" dirty="0">
                <a:solidFill>
                  <a:prstClr val="black"/>
                </a:solidFill>
                <a:latin typeface="Calibri"/>
                <a:cs typeface="等线"/>
              </a:rPr>
              <a:t>02.03.02 «Фундаментальная информатика и информационные технологии»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D888A0-D529-4A48-9A73-A2789B0BB53E}"/>
              </a:ext>
            </a:extLst>
          </p:cNvPr>
          <p:cNvSpPr txBox="1"/>
          <p:nvPr/>
        </p:nvSpPr>
        <p:spPr>
          <a:xfrm>
            <a:off x="5041670" y="6039263"/>
            <a:ext cx="21086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+mn-lt"/>
              </a:rPr>
              <a:t>Челябинск, </a:t>
            </a:r>
            <a:fld id="{D050B8BC-69AA-46FA-9148-73202F0614CF}" type="datetimeyyyy">
              <a:rPr lang="ru-RU" sz="1600" smtClean="0">
                <a:latin typeface="+mn-lt"/>
              </a:rPr>
              <a:pPr algn="ctr"/>
              <a:t>2026</a:t>
            </a:fld>
            <a:r>
              <a:rPr lang="ru-RU" sz="1600" dirty="0">
                <a:latin typeface="+mn-lt"/>
              </a:rPr>
              <a:t> г.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28D73F-2EF0-46A2-B060-CBFCA88FE6D9}"/>
              </a:ext>
            </a:extLst>
          </p:cNvPr>
          <p:cNvSpPr txBox="1"/>
          <p:nvPr/>
        </p:nvSpPr>
        <p:spPr>
          <a:xfrm>
            <a:off x="5578871" y="2010156"/>
            <a:ext cx="1034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Тема</a:t>
            </a:r>
            <a:r>
              <a:rPr lang="ru-RU" sz="2800" dirty="0">
                <a:latin typeface="+mj-lt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369316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1B4001F-0B59-4BB4-A951-D2D56CEC9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66C265-3FA3-4E77-AF1F-F8CE39A39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pPr/>
              <a:t>2</a:t>
            </a:fld>
            <a:r>
              <a:rPr lang="ru-RU" dirty="0"/>
              <a:t>/6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7A2E47-C944-4392-B60A-6494C1D38BFA}"/>
              </a:ext>
            </a:extLst>
          </p:cNvPr>
          <p:cNvSpPr txBox="1"/>
          <p:nvPr/>
        </p:nvSpPr>
        <p:spPr>
          <a:xfrm>
            <a:off x="697584" y="1132049"/>
            <a:ext cx="10656216" cy="4716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Назначение и идея приложения: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Gearspell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Engineer’s Adventure –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мобильная игра в жанре «Текстовый квест», созданная в развлекательных целях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Жанр: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Текстовый квест с элементами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ower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defense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Вдохновение: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Популярный аналог «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Impossible Quest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Сюжетная основа: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Лор другой моей игры «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Gearspell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Tower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  <a:p>
            <a:pPr>
              <a:lnSpc>
                <a:spcPct val="114000"/>
              </a:lnSpc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Цель разработки: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Раскрытие мира и персонажей через интерактивное повествование, позволяющее игроку узнать предысторию событий и повлиять на судьбу героя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</a:p>
          <a:p>
            <a:pPr>
              <a:lnSpc>
                <a:spcPct val="114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1. Продемонстрировать реализация системы на платформе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Android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2. Расширить лор мира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Gearspell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за счёт ветвящегося сюжета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Предоставить пользователю увлекательное интерактивное приключение</a:t>
            </a:r>
          </a:p>
          <a:p>
            <a:pPr>
              <a:lnSpc>
                <a:spcPct val="114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4. Обеспечить интерес к повторному прохождению через множество концовок</a:t>
            </a:r>
          </a:p>
        </p:txBody>
      </p:sp>
    </p:spTree>
    <p:extLst>
      <p:ext uri="{BB962C8B-B14F-4D97-AF65-F5344CB8AC3E}">
        <p14:creationId xmlns:p14="http://schemas.microsoft.com/office/powerpoint/2010/main" val="4110309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A349F-3656-4D24-85F5-4714C47FD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ИГРОВОЙ ПРОЦЕСС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3A3B76E-D8A6-44B7-8AD1-5293C755C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pPr/>
              <a:t>3</a:t>
            </a:fld>
            <a:r>
              <a:rPr lang="ru-RU" dirty="0"/>
              <a:t>/6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7EBEFF-B212-48B7-80C2-6F94AE355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939" y="1183612"/>
            <a:ext cx="2322108" cy="50323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12452B-3317-4C2E-A232-F1A6A1B30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946" y="1183612"/>
            <a:ext cx="2322108" cy="503237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6339AF9-04A5-4388-B82F-CD773DC6A4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953" y="1183610"/>
            <a:ext cx="2322109" cy="503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3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77C5A7-3BB3-4DB3-8A3E-E43DE199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ПРИЛОЖЕНИЯ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6919747-0C68-457F-A6FB-D691B79F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pPr/>
              <a:t>4</a:t>
            </a:fld>
            <a:r>
              <a:rPr lang="ru-RU" dirty="0"/>
              <a:t>/6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32C3A1-FBB5-435B-BF3A-090E1E0B1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631" y="1025574"/>
            <a:ext cx="8262738" cy="519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30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2D776-B582-46CF-99C2-DCB0D26C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событий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311AECB-B833-4F0F-8686-445CC0D4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pPr/>
              <a:t>5</a:t>
            </a:fld>
            <a:r>
              <a:rPr lang="ru-RU" dirty="0"/>
              <a:t>/6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6C59D1A-BF3C-4558-9607-907029783D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75"/>
          <a:stretch/>
        </p:blipFill>
        <p:spPr>
          <a:xfrm>
            <a:off x="272934" y="1267158"/>
            <a:ext cx="4226207" cy="5234612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A9EAFF-E179-4936-B288-0693DF3EFBB8}"/>
              </a:ext>
            </a:extLst>
          </p:cNvPr>
          <p:cNvSpPr txBox="1"/>
          <p:nvPr/>
        </p:nvSpPr>
        <p:spPr>
          <a:xfrm>
            <a:off x="1346477" y="897826"/>
            <a:ext cx="1784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Граф развилок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04FD252-D302-44B3-A71D-5993370FC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004" y="1957711"/>
            <a:ext cx="4448796" cy="45440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3AEBA6-36FB-42D4-9AB8-CFC005E72E69}"/>
              </a:ext>
            </a:extLst>
          </p:cNvPr>
          <p:cNvSpPr txBox="1"/>
          <p:nvPr/>
        </p:nvSpPr>
        <p:spPr>
          <a:xfrm>
            <a:off x="7207858" y="1618995"/>
            <a:ext cx="3843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Структура данных в формате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B16DE8-1453-4BAA-B40E-D24DC797DC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44" r="81358"/>
          <a:stretch/>
        </p:blipFill>
        <p:spPr>
          <a:xfrm>
            <a:off x="3621461" y="5254661"/>
            <a:ext cx="2474683" cy="124711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909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55182-E96B-49EA-BA43-2E3DF6B7D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4EEE877-4025-4E08-A945-33FF9E64F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B702-6DC2-410B-BB66-B960085F0366}" type="slidenum">
              <a:rPr lang="ru-RU" smtClean="0"/>
              <a:pPr/>
              <a:t>6</a:t>
            </a:fld>
            <a:r>
              <a:rPr lang="ru-RU" dirty="0"/>
              <a:t>/6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B3F1AA1-D29A-41C4-87D6-99C98F554BDA}"/>
              </a:ext>
            </a:extLst>
          </p:cNvPr>
          <p:cNvSpPr txBox="1">
            <a:spLocks/>
          </p:cNvSpPr>
          <p:nvPr/>
        </p:nvSpPr>
        <p:spPr>
          <a:xfrm>
            <a:off x="838200" y="5309263"/>
            <a:ext cx="10515600" cy="906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sz="2800" dirty="0"/>
              <a:t>Спасибо за внимание!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7B9AFE43-E39C-43BE-8E84-DAFA6B76924F}"/>
              </a:ext>
            </a:extLst>
          </p:cNvPr>
          <p:cNvGrpSpPr/>
          <p:nvPr/>
        </p:nvGrpSpPr>
        <p:grpSpPr>
          <a:xfrm>
            <a:off x="7838497" y="2392376"/>
            <a:ext cx="4353503" cy="2916887"/>
            <a:chOff x="7987306" y="1621347"/>
            <a:chExt cx="4353503" cy="2916887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A912C408-DE72-4AE5-BF18-DFAAD1890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21304" y="1792798"/>
              <a:ext cx="1485508" cy="1485508"/>
            </a:xfrm>
            <a:prstGeom prst="rect">
              <a:avLst/>
            </a:prstGeom>
          </p:spPr>
        </p:pic>
        <p:sp>
          <p:nvSpPr>
            <p:cNvPr id="6" name="Заголовок 1">
              <a:extLst>
                <a:ext uri="{FF2B5EF4-FFF2-40B4-BE49-F238E27FC236}">
                  <a16:creationId xmlns:a16="http://schemas.microsoft.com/office/drawing/2014/main" id="{F704E02A-EE6D-4995-B626-0C5DBF5A13DC}"/>
                </a:ext>
              </a:extLst>
            </p:cNvPr>
            <p:cNvSpPr txBox="1">
              <a:spLocks/>
            </p:cNvSpPr>
            <p:nvPr/>
          </p:nvSpPr>
          <p:spPr>
            <a:xfrm>
              <a:off x="7987306" y="4011260"/>
              <a:ext cx="4353503" cy="52697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r>
                <a:rPr lang="ru-RU" sz="1800" dirty="0"/>
                <a:t>А тут вы можете поиграть в мою игру</a:t>
              </a:r>
            </a:p>
          </p:txBody>
        </p:sp>
        <p:sp>
          <p:nvSpPr>
            <p:cNvPr id="7" name="Стрелка: вправо 6">
              <a:extLst>
                <a:ext uri="{FF2B5EF4-FFF2-40B4-BE49-F238E27FC236}">
                  <a16:creationId xmlns:a16="http://schemas.microsoft.com/office/drawing/2014/main" id="{ED7B8519-6D58-45B1-9BF2-6B295B184E0A}"/>
                </a:ext>
              </a:extLst>
            </p:cNvPr>
            <p:cNvSpPr/>
            <p:nvPr/>
          </p:nvSpPr>
          <p:spPr>
            <a:xfrm rot="16200000">
              <a:off x="9859466" y="3459233"/>
              <a:ext cx="609185" cy="368450"/>
            </a:xfrm>
            <a:prstGeom prst="rightArrow">
              <a:avLst>
                <a:gd name="adj1" fmla="val 4611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Стрелка: вправо 7">
              <a:extLst>
                <a:ext uri="{FF2B5EF4-FFF2-40B4-BE49-F238E27FC236}">
                  <a16:creationId xmlns:a16="http://schemas.microsoft.com/office/drawing/2014/main" id="{66BB00F7-26D9-42D9-82E5-FD7FF24C3C21}"/>
                </a:ext>
              </a:extLst>
            </p:cNvPr>
            <p:cNvSpPr/>
            <p:nvPr/>
          </p:nvSpPr>
          <p:spPr>
            <a:xfrm rot="12487832">
              <a:off x="11046274" y="2972017"/>
              <a:ext cx="714026" cy="364526"/>
            </a:xfrm>
            <a:prstGeom prst="rightArrow">
              <a:avLst>
                <a:gd name="adj1" fmla="val 4611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Стрелка: вправо 9">
              <a:extLst>
                <a:ext uri="{FF2B5EF4-FFF2-40B4-BE49-F238E27FC236}">
                  <a16:creationId xmlns:a16="http://schemas.microsoft.com/office/drawing/2014/main" id="{96A65808-7259-491A-BE3C-E19EB2BA2C84}"/>
                </a:ext>
              </a:extLst>
            </p:cNvPr>
            <p:cNvSpPr/>
            <p:nvPr/>
          </p:nvSpPr>
          <p:spPr>
            <a:xfrm rot="10126021">
              <a:off x="11030491" y="1621347"/>
              <a:ext cx="781020" cy="364077"/>
            </a:xfrm>
            <a:prstGeom prst="rightArrow">
              <a:avLst>
                <a:gd name="adj1" fmla="val 4611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Стрелка: вправо 11">
              <a:extLst>
                <a:ext uri="{FF2B5EF4-FFF2-40B4-BE49-F238E27FC236}">
                  <a16:creationId xmlns:a16="http://schemas.microsoft.com/office/drawing/2014/main" id="{8C89C40E-82B5-4DE2-A8EA-20F59DBABA28}"/>
                </a:ext>
              </a:extLst>
            </p:cNvPr>
            <p:cNvSpPr/>
            <p:nvPr/>
          </p:nvSpPr>
          <p:spPr>
            <a:xfrm rot="20237515">
              <a:off x="8568893" y="2995122"/>
              <a:ext cx="714026" cy="364526"/>
            </a:xfrm>
            <a:prstGeom prst="rightArrow">
              <a:avLst>
                <a:gd name="adj1" fmla="val 4611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Стрелка: вправо 12">
              <a:extLst>
                <a:ext uri="{FF2B5EF4-FFF2-40B4-BE49-F238E27FC236}">
                  <a16:creationId xmlns:a16="http://schemas.microsoft.com/office/drawing/2014/main" id="{8BDDA18D-3941-4723-A9BD-3D51911F674E}"/>
                </a:ext>
              </a:extLst>
            </p:cNvPr>
            <p:cNvSpPr/>
            <p:nvPr/>
          </p:nvSpPr>
          <p:spPr>
            <a:xfrm rot="1297713">
              <a:off x="8535396" y="1630511"/>
              <a:ext cx="781020" cy="364077"/>
            </a:xfrm>
            <a:prstGeom prst="rightArrow">
              <a:avLst>
                <a:gd name="adj1" fmla="val 4611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33C86EF-88E4-4AC5-A2B1-056730EC4638}"/>
              </a:ext>
            </a:extLst>
          </p:cNvPr>
          <p:cNvSpPr txBox="1"/>
          <p:nvPr/>
        </p:nvSpPr>
        <p:spPr>
          <a:xfrm>
            <a:off x="501318" y="1266168"/>
            <a:ext cx="7634462" cy="4190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Разработано полностью функциональное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Android-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приложение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Игра содержит: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3 основных маршрута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100+ уникальный событий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10+ концовок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Планы на будущее: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Улучшение последовательности выборов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Улучшение текста событий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Доработка предметов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993F562F-26BF-485A-A4C1-08FED515F188}"/>
              </a:ext>
            </a:extLst>
          </p:cNvPr>
          <p:cNvGrpSpPr/>
          <p:nvPr/>
        </p:nvGrpSpPr>
        <p:grpSpPr>
          <a:xfrm>
            <a:off x="9065212" y="730251"/>
            <a:ext cx="1900072" cy="1211320"/>
            <a:chOff x="9065212" y="559825"/>
            <a:chExt cx="1900072" cy="1211320"/>
          </a:xfrm>
        </p:grpSpPr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A0578AB1-FA5D-49F6-A3B9-0C66C7C3E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3075" y="559825"/>
              <a:ext cx="684346" cy="684346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56004D-5092-406A-B887-7F390881FEAB}"/>
                </a:ext>
              </a:extLst>
            </p:cNvPr>
            <p:cNvSpPr txBox="1"/>
            <p:nvPr/>
          </p:nvSpPr>
          <p:spPr>
            <a:xfrm>
              <a:off x="9065212" y="1247925"/>
              <a:ext cx="19000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Gearspell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: Engineer’s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Adventure</a:t>
              </a:r>
              <a:endParaRPr lang="ru-RU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60365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523</Words>
  <Application>Microsoft Office PowerPoint</Application>
  <PresentationFormat>Широкоэкранный</PresentationFormat>
  <Paragraphs>70</Paragraphs>
  <Slides>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Тема Office</vt:lpstr>
      <vt:lpstr>Разработка текстового квеста</vt:lpstr>
      <vt:lpstr>Введение</vt:lpstr>
      <vt:lpstr>ИГРОВОЙ ПРОЦЕСС</vt:lpstr>
      <vt:lpstr>АРХИТЕКТУРА ПРИЛОЖЕНИЯ</vt:lpstr>
      <vt:lpstr>Структура событий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Дима Яковлев</dc:creator>
  <cp:lastModifiedBy>Дима Яковлев</cp:lastModifiedBy>
  <cp:revision>41</cp:revision>
  <dcterms:created xsi:type="dcterms:W3CDTF">2026-05-29T18:18:26Z</dcterms:created>
  <dcterms:modified xsi:type="dcterms:W3CDTF">2026-05-30T09:14:52Z</dcterms:modified>
</cp:coreProperties>
</file>